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13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BA659ED-808D-4FC1-8897-54E080448A1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46F105D-16B3-4450-9CD3-F55DB662A53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9655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14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37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1898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649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554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4848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6986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8370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233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0210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6667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4325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6096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4115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35914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7979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1569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9EA68-E956-4FAF-955E-C45F6452DB53}" type="datetimeFigureOut">
              <a:rPr lang="he-IL" smtClean="0"/>
              <a:t>כ"ט/חשון/תשפ"ו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B38D3-F4FD-4351-A733-3BF97FB138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2496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BE362B-4441-13E5-B29D-3CEEF3FB0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711201"/>
            <a:ext cx="8791575" cy="2438400"/>
          </a:xfrm>
        </p:spPr>
        <p:txBody>
          <a:bodyPr>
            <a:noAutofit/>
          </a:bodyPr>
          <a:lstStyle/>
          <a:p>
            <a:pPr algn="ctr"/>
            <a:r>
              <a:rPr lang="he-IL" dirty="0">
                <a:solidFill>
                  <a:schemeClr val="bg1"/>
                </a:solidFill>
              </a:rPr>
              <a:t>חיזוי סיכון בריאותי על בסיס אורח חיים (</a:t>
            </a:r>
            <a:r>
              <a:rPr lang="en-US" dirty="0">
                <a:solidFill>
                  <a:schemeClr val="bg1"/>
                </a:solidFill>
              </a:rPr>
              <a:t>Lifestyle and Health Risk Prediction)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C1B69C-514D-AF3B-6C58-9043E085C7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37525" y="4075975"/>
            <a:ext cx="820714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he-IL" altLang="he-IL" sz="4000" cap="none" dirty="0" err="1">
                <a:solidFill>
                  <a:schemeClr val="tx1"/>
                </a:solidFill>
                <a:latin typeface="Arial" panose="020B0604020202020204" pitchFamily="34" charset="0"/>
              </a:rPr>
              <a:t>KNN</a:t>
            </a:r>
            <a:r>
              <a:rPr kumimoji="0" lang="he-IL" altLang="he-IL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פרויקט</a:t>
            </a:r>
            <a:r>
              <a:rPr kumimoji="0" lang="he-IL" altLang="he-IL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למידת מכונה – אלגוריתם</a:t>
            </a:r>
            <a:endParaRPr kumimoji="0" lang="he-IL" altLang="he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88B5252D-A871-3325-7B8E-35BE4A74C461}"/>
              </a:ext>
            </a:extLst>
          </p:cNvPr>
          <p:cNvSpPr txBox="1"/>
          <p:nvPr/>
        </p:nvSpPr>
        <p:spPr>
          <a:xfrm>
            <a:off x="3953934" y="5545667"/>
            <a:ext cx="48006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dirty="0">
                <a:solidFill>
                  <a:schemeClr val="bg1"/>
                </a:solidFill>
              </a:rPr>
              <a:t>מגישה: תמר נפחא</a:t>
            </a:r>
          </a:p>
        </p:txBody>
      </p:sp>
    </p:spTree>
    <p:extLst>
      <p:ext uri="{BB962C8B-B14F-4D97-AF65-F5344CB8AC3E}">
        <p14:creationId xmlns:p14="http://schemas.microsoft.com/office/powerpoint/2010/main" val="146410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10A6A-60A4-25EE-8B22-5CF1A203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2FECBA-4833-7276-A4AE-C635496C8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589159"/>
            <a:ext cx="8791575" cy="833241"/>
          </a:xfrm>
        </p:spPr>
        <p:txBody>
          <a:bodyPr>
            <a:noAutofit/>
          </a:bodyPr>
          <a:lstStyle/>
          <a:p>
            <a:pPr algn="r"/>
            <a:r>
              <a:rPr lang="he-IL" sz="4000" dirty="0">
                <a:solidFill>
                  <a:schemeClr val="bg1"/>
                </a:solidFill>
              </a:rPr>
              <a:t>מטרת המחקר: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E101488E-3001-0D21-E83F-EB0D1B51BC2A}"/>
              </a:ext>
            </a:extLst>
          </p:cNvPr>
          <p:cNvSpPr txBox="1"/>
          <p:nvPr/>
        </p:nvSpPr>
        <p:spPr>
          <a:xfrm>
            <a:off x="3572933" y="1625600"/>
            <a:ext cx="6951134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800" dirty="0">
                <a:solidFill>
                  <a:schemeClr val="bg1"/>
                </a:solidFill>
              </a:rPr>
              <a:t>לפתח מודל סיווג שיודע לחזות סיכון בריאותי על בסיס הרגלי חיים ונתוני גוף.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5D8B6B86-EAA4-A088-0D05-C7E832924ED8}"/>
              </a:ext>
            </a:extLst>
          </p:cNvPr>
          <p:cNvSpPr txBox="1"/>
          <p:nvPr/>
        </p:nvSpPr>
        <p:spPr>
          <a:xfrm>
            <a:off x="2912534" y="2918668"/>
            <a:ext cx="7594600" cy="35394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800" cap="all" dirty="0">
                <a:solidFill>
                  <a:schemeClr val="bg1"/>
                </a:solidFill>
              </a:rPr>
              <a:t>במחקר זה נעבוד על מערך נתונים המכיל 5000 נתונים על נבדקים שונים. נחקור את הנתונים, את הרגלי החיים ונגיע למסקנות לגבי הסיכון הבריאותי של הנבדקים. </a:t>
            </a:r>
            <a:endParaRPr lang="en-US" sz="2800" cap="all" dirty="0">
              <a:solidFill>
                <a:schemeClr val="bg1"/>
              </a:solidFill>
            </a:endParaRPr>
          </a:p>
          <a:p>
            <a:pPr algn="r"/>
            <a:endParaRPr lang="en-US" sz="2800" cap="all" dirty="0">
              <a:solidFill>
                <a:schemeClr val="bg1"/>
              </a:solidFill>
            </a:endParaRPr>
          </a:p>
          <a:p>
            <a:pPr algn="r"/>
            <a:r>
              <a:rPr lang="he-IL" sz="2800" dirty="0">
                <a:solidFill>
                  <a:schemeClr val="bg1"/>
                </a:solidFill>
              </a:rPr>
              <a:t>שיטת העבודה: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he-IL" sz="2800" dirty="0">
                <a:solidFill>
                  <a:schemeClr val="bg1"/>
                </a:solidFill>
              </a:rPr>
              <a:t>שימוש באלגוריתם ה-</a:t>
            </a:r>
            <a:endParaRPr lang="en-US" sz="2800" dirty="0">
              <a:solidFill>
                <a:schemeClr val="bg1"/>
              </a:solidFill>
            </a:endParaRPr>
          </a:p>
          <a:p>
            <a:pPr algn="r"/>
            <a:r>
              <a:rPr lang="en-US" sz="2800" dirty="0">
                <a:solidFill>
                  <a:schemeClr val="bg1"/>
                </a:solidFill>
              </a:rPr>
              <a:t>KNN- </a:t>
            </a:r>
            <a:r>
              <a:rPr lang="he-IL" sz="280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K Nearest Neighbors</a:t>
            </a:r>
            <a:endParaRPr lang="he-IL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366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305DC7C-AB2A-EC17-0C95-31971641188B}"/>
              </a:ext>
            </a:extLst>
          </p:cNvPr>
          <p:cNvSpPr txBox="1"/>
          <p:nvPr/>
        </p:nvSpPr>
        <p:spPr>
          <a:xfrm>
            <a:off x="3141133" y="694267"/>
            <a:ext cx="7907867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800" dirty="0">
                <a:solidFill>
                  <a:schemeClr val="bg1"/>
                </a:solidFill>
              </a:rPr>
              <a:t>בחרתי ב-</a:t>
            </a:r>
            <a:r>
              <a:rPr lang="he-IL" sz="2800" b="1" dirty="0">
                <a:solidFill>
                  <a:schemeClr val="bg1"/>
                </a:solidFill>
              </a:rPr>
              <a:t>3 תרשימים עיקריים</a:t>
            </a:r>
            <a:r>
              <a:rPr lang="he-IL" sz="2800" dirty="0">
                <a:solidFill>
                  <a:schemeClr val="bg1"/>
                </a:solidFill>
              </a:rPr>
              <a:t> המציגים את הקשר החזק ביותר לסיכון:</a:t>
            </a:r>
            <a:endParaRPr lang="en-US" sz="2800" dirty="0">
              <a:solidFill>
                <a:schemeClr val="bg1"/>
              </a:solidFill>
            </a:endParaRPr>
          </a:p>
          <a:p>
            <a:pPr algn="r"/>
            <a:endParaRPr lang="en-US" sz="2800" dirty="0">
              <a:solidFill>
                <a:schemeClr val="bg1"/>
              </a:solidFill>
            </a:endParaRPr>
          </a:p>
          <a:p>
            <a:pPr algn="r"/>
            <a:r>
              <a:rPr lang="en-US" sz="2800" dirty="0">
                <a:solidFill>
                  <a:schemeClr val="bg1"/>
                </a:solidFill>
              </a:rPr>
              <a:t>      BMI – </a:t>
            </a:r>
            <a:r>
              <a:rPr lang="he-IL" sz="2800" dirty="0">
                <a:solidFill>
                  <a:schemeClr val="bg1"/>
                </a:solidFill>
              </a:rPr>
              <a:t>1.</a:t>
            </a:r>
          </a:p>
          <a:p>
            <a:pPr algn="r"/>
            <a:r>
              <a:rPr lang="he-IL" sz="2800" dirty="0">
                <a:solidFill>
                  <a:schemeClr val="bg1"/>
                </a:solidFill>
              </a:rPr>
              <a:t>מנבא הסיכון החזק ביותר.</a:t>
            </a:r>
          </a:p>
          <a:p>
            <a:pPr algn="r"/>
            <a:endParaRPr lang="he-IL" sz="2800" dirty="0">
              <a:solidFill>
                <a:schemeClr val="bg1"/>
              </a:solidFill>
            </a:endParaRPr>
          </a:p>
          <a:p>
            <a:pPr algn="r"/>
            <a:r>
              <a:rPr lang="he-IL" sz="2800" dirty="0">
                <a:solidFill>
                  <a:schemeClr val="bg1"/>
                </a:solidFill>
              </a:rPr>
              <a:t>2. השפעת חומרים ממכרים (עישון ואלכוהול).</a:t>
            </a:r>
          </a:p>
          <a:p>
            <a:pPr algn="r"/>
            <a:endParaRPr lang="he-IL" sz="2800" dirty="0">
              <a:solidFill>
                <a:schemeClr val="bg1"/>
              </a:solidFill>
            </a:endParaRPr>
          </a:p>
          <a:p>
            <a:pPr algn="r"/>
            <a:r>
              <a:rPr lang="he-IL" sz="2800" dirty="0">
                <a:solidFill>
                  <a:schemeClr val="bg1"/>
                </a:solidFill>
              </a:rPr>
              <a:t>3. שילוב רב משתני: גיל, פעילות גופנית ומדד מסת הגוף.</a:t>
            </a:r>
          </a:p>
        </p:txBody>
      </p:sp>
    </p:spTree>
    <p:extLst>
      <p:ext uri="{BB962C8B-B14F-4D97-AF65-F5344CB8AC3E}">
        <p14:creationId xmlns:p14="http://schemas.microsoft.com/office/powerpoint/2010/main" val="3970186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7C0E35CA-480B-6596-7D05-BD5BCF4A428C}"/>
              </a:ext>
            </a:extLst>
          </p:cNvPr>
          <p:cNvSpPr txBox="1"/>
          <p:nvPr/>
        </p:nvSpPr>
        <p:spPr>
          <a:xfrm>
            <a:off x="3310467" y="381000"/>
            <a:ext cx="725593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solidFill>
                  <a:schemeClr val="bg1"/>
                </a:solidFill>
              </a:rPr>
              <a:t>1. הקשר הדומיננטי של מדד מסת הגוף מול הסיכון הבריאותי: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1FE536C-2654-039E-A294-420F33D152E1}"/>
              </a:ext>
            </a:extLst>
          </p:cNvPr>
          <p:cNvSpPr txBox="1"/>
          <p:nvPr/>
        </p:nvSpPr>
        <p:spPr>
          <a:xfrm>
            <a:off x="2438400" y="1080975"/>
            <a:ext cx="8128000" cy="169277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dirty="0">
                <a:solidFill>
                  <a:schemeClr val="bg1"/>
                </a:solidFill>
              </a:rPr>
              <a:t>תרשים עיקרי: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400" dirty="0" err="1">
                <a:solidFill>
                  <a:schemeClr val="bg1"/>
                </a:solidFill>
              </a:rPr>
              <a:t>sns.boxplot</a:t>
            </a:r>
            <a:r>
              <a:rPr lang="en-US" sz="2400" dirty="0">
                <a:solidFill>
                  <a:schemeClr val="bg1"/>
                </a:solidFill>
              </a:rPr>
              <a:t>(x='</a:t>
            </a:r>
            <a:r>
              <a:rPr lang="en-US" sz="2400" dirty="0" err="1">
                <a:solidFill>
                  <a:schemeClr val="bg1"/>
                </a:solidFill>
              </a:rPr>
              <a:t>bmi</a:t>
            </a:r>
            <a:r>
              <a:rPr lang="en-US" sz="2400" dirty="0">
                <a:solidFill>
                  <a:schemeClr val="bg1"/>
                </a:solidFill>
              </a:rPr>
              <a:t>',y='</a:t>
            </a:r>
            <a:r>
              <a:rPr lang="en-US" sz="2400" dirty="0" err="1">
                <a:solidFill>
                  <a:schemeClr val="bg1"/>
                </a:solidFill>
              </a:rPr>
              <a:t>health_risk</a:t>
            </a:r>
            <a:r>
              <a:rPr lang="en-US" sz="2400" dirty="0">
                <a:solidFill>
                  <a:schemeClr val="bg1"/>
                </a:solidFill>
              </a:rPr>
              <a:t>', data=</a:t>
            </a:r>
            <a:r>
              <a:rPr lang="en-US" sz="2400" dirty="0" err="1">
                <a:solidFill>
                  <a:schemeClr val="bg1"/>
                </a:solidFill>
              </a:rPr>
              <a:t>df_healtRisk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algn="r"/>
            <a:endParaRPr lang="en-US" sz="2800" dirty="0">
              <a:solidFill>
                <a:schemeClr val="bg1"/>
              </a:solidFill>
            </a:endParaRPr>
          </a:p>
          <a:p>
            <a:pPr algn="r"/>
            <a:endParaRPr lang="he-IL" sz="2800" dirty="0">
              <a:solidFill>
                <a:schemeClr val="bg1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9D1A8B70-0964-A28F-A574-94C656601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384" y="1927360"/>
            <a:ext cx="4590032" cy="3443863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F5CD750-B8B0-43DA-C110-430DDA91F6D2}"/>
              </a:ext>
            </a:extLst>
          </p:cNvPr>
          <p:cNvSpPr txBox="1"/>
          <p:nvPr/>
        </p:nvSpPr>
        <p:spPr>
          <a:xfrm>
            <a:off x="1921933" y="5424866"/>
            <a:ext cx="8644467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b="1" dirty="0">
                <a:solidFill>
                  <a:schemeClr val="bg1"/>
                </a:solidFill>
              </a:rPr>
              <a:t>הסבר</a:t>
            </a:r>
            <a:r>
              <a:rPr lang="he-IL" sz="2000" dirty="0">
                <a:solidFill>
                  <a:schemeClr val="bg1"/>
                </a:solidFill>
              </a:rPr>
              <a:t>: תרשים זה מראה בברור שכל קבוצת הסיכון הגבוה מרוכזת בטווח מסת גוף של עודף משקל והשמנה(חציון בסביבות 30), בעוד קבוצת הסיכון הנמוך מרוכזת בטווח מסת גוף בריא (חציון בסביבות 20).</a:t>
            </a:r>
          </a:p>
          <a:p>
            <a:pPr algn="r"/>
            <a:r>
              <a:rPr lang="he-IL" sz="2000" b="1" dirty="0">
                <a:solidFill>
                  <a:schemeClr val="bg1"/>
                </a:solidFill>
              </a:rPr>
              <a:t>תובנה</a:t>
            </a:r>
            <a:r>
              <a:rPr lang="he-IL" sz="2000" dirty="0">
                <a:solidFill>
                  <a:schemeClr val="bg1"/>
                </a:solidFill>
              </a:rPr>
              <a:t>: מסת הגוף היא התכונה הדומיננטית ביותר לחיזוי.</a:t>
            </a:r>
            <a:r>
              <a:rPr lang="en-US" sz="2000" dirty="0">
                <a:solidFill>
                  <a:schemeClr val="bg1"/>
                </a:solidFill>
              </a:rPr>
              <a:t>  </a:t>
            </a:r>
            <a:endParaRPr lang="he-IL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739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F1EF0-2851-7AF9-1A22-11108C837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80C85027-8AAF-8FF2-CBDE-0CDADAFF961B}"/>
              </a:ext>
            </a:extLst>
          </p:cNvPr>
          <p:cNvSpPr txBox="1"/>
          <p:nvPr/>
        </p:nvSpPr>
        <p:spPr>
          <a:xfrm>
            <a:off x="3267584" y="370968"/>
            <a:ext cx="72559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solidFill>
                  <a:schemeClr val="bg1"/>
                </a:solidFill>
              </a:rPr>
              <a:t>2. השפעת חומרים ממכרים (עישון ואלכוהול):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8B00E55-0C6A-B64C-A3C5-C610FC67748D}"/>
              </a:ext>
            </a:extLst>
          </p:cNvPr>
          <p:cNvSpPr txBox="1"/>
          <p:nvPr/>
        </p:nvSpPr>
        <p:spPr>
          <a:xfrm>
            <a:off x="2395517" y="886276"/>
            <a:ext cx="8128000" cy="169277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dirty="0">
                <a:solidFill>
                  <a:schemeClr val="bg1"/>
                </a:solidFill>
              </a:rPr>
              <a:t>תרשים עיקרי:</a:t>
            </a:r>
            <a:endParaRPr lang="en-US" sz="2000" dirty="0">
              <a:solidFill>
                <a:schemeClr val="bg1"/>
              </a:solidFill>
            </a:endParaRPr>
          </a:p>
          <a:p>
            <a:pPr algn="r"/>
            <a:r>
              <a:rPr lang="en-US" sz="2400" dirty="0" err="1">
                <a:solidFill>
                  <a:schemeClr val="bg1"/>
                </a:solidFill>
              </a:rPr>
              <a:t>sns.countplot</a:t>
            </a:r>
            <a:r>
              <a:rPr lang="en-US" sz="2400" dirty="0">
                <a:solidFill>
                  <a:schemeClr val="bg1"/>
                </a:solidFill>
              </a:rPr>
              <a:t>(x='smoking', hue='</a:t>
            </a:r>
            <a:r>
              <a:rPr lang="en-US" sz="2400" dirty="0" err="1">
                <a:solidFill>
                  <a:schemeClr val="bg1"/>
                </a:solidFill>
              </a:rPr>
              <a:t>health_risk</a:t>
            </a:r>
            <a:r>
              <a:rPr lang="en-US" sz="2400" dirty="0">
                <a:solidFill>
                  <a:schemeClr val="bg1"/>
                </a:solidFill>
              </a:rPr>
              <a:t>', data=</a:t>
            </a:r>
            <a:r>
              <a:rPr lang="en-US" sz="2400" dirty="0" err="1">
                <a:solidFill>
                  <a:schemeClr val="bg1"/>
                </a:solidFill>
              </a:rPr>
              <a:t>df_healtRisk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algn="r"/>
            <a:endParaRPr lang="en-US" sz="2800" dirty="0">
              <a:solidFill>
                <a:schemeClr val="bg1"/>
              </a:solidFill>
            </a:endParaRPr>
          </a:p>
          <a:p>
            <a:pPr algn="r"/>
            <a:endParaRPr lang="he-IL" sz="2800" dirty="0">
              <a:solidFill>
                <a:schemeClr val="bg1"/>
              </a:solidFill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9F4FDCA-3FB9-18C3-5B4D-98C31462D9C7}"/>
              </a:ext>
            </a:extLst>
          </p:cNvPr>
          <p:cNvSpPr txBox="1"/>
          <p:nvPr/>
        </p:nvSpPr>
        <p:spPr>
          <a:xfrm>
            <a:off x="2065866" y="5678866"/>
            <a:ext cx="8644467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b="1" dirty="0">
                <a:solidFill>
                  <a:schemeClr val="bg1"/>
                </a:solidFill>
              </a:rPr>
              <a:t>הסבר:</a:t>
            </a:r>
            <a:r>
              <a:rPr lang="he-IL" sz="2000" dirty="0">
                <a:solidFill>
                  <a:schemeClr val="bg1"/>
                </a:solidFill>
              </a:rPr>
              <a:t> תרשים הספירה מוכיח שקיים </a:t>
            </a:r>
            <a:r>
              <a:rPr lang="he-IL" sz="2000" b="1" dirty="0">
                <a:solidFill>
                  <a:schemeClr val="bg1"/>
                </a:solidFill>
              </a:rPr>
              <a:t>חוסר איזון קיצוני</a:t>
            </a:r>
            <a:r>
              <a:rPr lang="he-IL" sz="2000" dirty="0">
                <a:solidFill>
                  <a:schemeClr val="bg1"/>
                </a:solidFill>
              </a:rPr>
              <a:t> בקרב המעשנים: כמעט כל המעשנים בדאטה סט סווגו כבעלי סיכון </a:t>
            </a:r>
            <a:r>
              <a:rPr lang="he-IL" sz="2000" b="1" dirty="0">
                <a:solidFill>
                  <a:schemeClr val="bg1"/>
                </a:solidFill>
              </a:rPr>
              <a:t>גבוה</a:t>
            </a:r>
            <a:r>
              <a:rPr lang="he-IL" sz="2000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B836287A-A5C7-3172-EAD1-7A0D58BA0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611" y="1732661"/>
            <a:ext cx="4856189" cy="363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7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4CFA4-9930-57FA-FA93-385AE77E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DBBAADC4-730C-90F7-2B60-A86AE53637A1}"/>
              </a:ext>
            </a:extLst>
          </p:cNvPr>
          <p:cNvSpPr txBox="1"/>
          <p:nvPr/>
        </p:nvSpPr>
        <p:spPr>
          <a:xfrm>
            <a:off x="2395517" y="603165"/>
            <a:ext cx="8128000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dirty="0">
                <a:solidFill>
                  <a:schemeClr val="bg1"/>
                </a:solidFill>
              </a:rPr>
              <a:t>תרשים נוסף:</a:t>
            </a:r>
            <a:endParaRPr lang="en-US" sz="2000" dirty="0">
              <a:solidFill>
                <a:schemeClr val="bg1"/>
              </a:solidFill>
            </a:endParaRPr>
          </a:p>
          <a:p>
            <a:pPr algn="r"/>
            <a:r>
              <a:rPr lang="en-US" sz="2400" dirty="0" err="1">
                <a:solidFill>
                  <a:schemeClr val="bg1"/>
                </a:solidFill>
              </a:rPr>
              <a:t>sns.barplot</a:t>
            </a:r>
            <a:r>
              <a:rPr lang="en-US" sz="2400" dirty="0">
                <a:solidFill>
                  <a:schemeClr val="bg1"/>
                </a:solidFill>
              </a:rPr>
              <a:t>(x='alcohol', y='</a:t>
            </a:r>
            <a:r>
              <a:rPr lang="en-US" sz="2400" dirty="0" err="1">
                <a:solidFill>
                  <a:schemeClr val="bg1"/>
                </a:solidFill>
              </a:rPr>
              <a:t>health_risk</a:t>
            </a:r>
            <a:r>
              <a:rPr lang="en-US" sz="2400" dirty="0">
                <a:solidFill>
                  <a:schemeClr val="bg1"/>
                </a:solidFill>
              </a:rPr>
              <a:t>', data=</a:t>
            </a:r>
            <a:r>
              <a:rPr lang="en-US" sz="2400" dirty="0" err="1">
                <a:solidFill>
                  <a:schemeClr val="bg1"/>
                </a:solidFill>
              </a:rPr>
              <a:t>df_healtRisk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algn="r"/>
            <a:endParaRPr lang="en-US" sz="2800" dirty="0">
              <a:solidFill>
                <a:schemeClr val="bg1"/>
              </a:solidFill>
            </a:endParaRPr>
          </a:p>
          <a:p>
            <a:pPr algn="r"/>
            <a:endParaRPr lang="he-IL" sz="2800" dirty="0">
              <a:solidFill>
                <a:schemeClr val="bg1"/>
              </a:solidFill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2C450E5-5552-AF68-5CE0-FEFD1CD7D092}"/>
              </a:ext>
            </a:extLst>
          </p:cNvPr>
          <p:cNvSpPr txBox="1"/>
          <p:nvPr/>
        </p:nvSpPr>
        <p:spPr>
          <a:xfrm>
            <a:off x="2040466" y="5124370"/>
            <a:ext cx="8644467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b="1" dirty="0">
                <a:solidFill>
                  <a:schemeClr val="bg1"/>
                </a:solidFill>
              </a:rPr>
              <a:t>הסבר: </a:t>
            </a:r>
            <a:r>
              <a:rPr lang="he-IL" sz="2000" dirty="0">
                <a:solidFill>
                  <a:schemeClr val="bg1"/>
                </a:solidFill>
              </a:rPr>
              <a:t>התרשים מראה בברור את העובדה שצרכני האלכוהול בסיכון גבוהה, לעומת אלו שאינם- שהסיכון שלהם לחלות בסיכויים נמוכים בהרבה.</a:t>
            </a:r>
            <a:endParaRPr lang="en-US" sz="2000" dirty="0">
              <a:solidFill>
                <a:schemeClr val="bg1"/>
              </a:solidFill>
            </a:endParaRPr>
          </a:p>
          <a:p>
            <a:pPr algn="r"/>
            <a:r>
              <a:rPr lang="he-IL" sz="2000" b="1" i="1" dirty="0">
                <a:solidFill>
                  <a:schemeClr val="bg1"/>
                </a:solidFill>
              </a:rPr>
              <a:t>תובנה</a:t>
            </a:r>
            <a:r>
              <a:rPr lang="he-IL" sz="2000" i="1" dirty="0">
                <a:solidFill>
                  <a:schemeClr val="bg1"/>
                </a:solidFill>
              </a:rPr>
              <a:t>:</a:t>
            </a:r>
            <a:r>
              <a:rPr lang="he-IL" sz="2000" dirty="0">
                <a:solidFill>
                  <a:schemeClr val="bg1"/>
                </a:solidFill>
              </a:rPr>
              <a:t> </a:t>
            </a:r>
            <a:r>
              <a:rPr lang="he-IL" sz="2000" b="1" dirty="0">
                <a:solidFill>
                  <a:schemeClr val="bg1"/>
                </a:solidFill>
              </a:rPr>
              <a:t>עישון</a:t>
            </a:r>
            <a:r>
              <a:rPr lang="he-IL" sz="2000" dirty="0">
                <a:solidFill>
                  <a:schemeClr val="bg1"/>
                </a:solidFill>
              </a:rPr>
              <a:t> ואלכוהול הם משתנים קטגוריים </a:t>
            </a:r>
            <a:r>
              <a:rPr lang="he-IL" sz="2000" b="1" dirty="0">
                <a:solidFill>
                  <a:schemeClr val="bg1"/>
                </a:solidFill>
              </a:rPr>
              <a:t>חזקים</a:t>
            </a:r>
            <a:r>
              <a:rPr lang="he-IL" sz="2000" dirty="0">
                <a:solidFill>
                  <a:schemeClr val="bg1"/>
                </a:solidFill>
              </a:rPr>
              <a:t> שיש להם קשר ישיר לסיכון.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A16FD34B-8A6C-2862-730F-D57362F76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46" y="1395744"/>
            <a:ext cx="4799054" cy="364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7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F7CE2-4B25-528B-473B-D51569940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9EDD541-31BC-B95E-8FD1-328C71773813}"/>
              </a:ext>
            </a:extLst>
          </p:cNvPr>
          <p:cNvSpPr txBox="1"/>
          <p:nvPr/>
        </p:nvSpPr>
        <p:spPr>
          <a:xfrm>
            <a:off x="2480184" y="853744"/>
            <a:ext cx="8128000" cy="20005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dirty="0">
                <a:solidFill>
                  <a:schemeClr val="bg1"/>
                </a:solidFill>
              </a:rPr>
              <a:t>תרשים עיקרי:</a:t>
            </a:r>
            <a:endParaRPr lang="en-US" sz="2000" dirty="0">
              <a:solidFill>
                <a:schemeClr val="bg1"/>
              </a:solidFill>
            </a:endParaRPr>
          </a:p>
          <a:p>
            <a:pPr algn="r"/>
            <a:r>
              <a:rPr lang="en-US" sz="2400" dirty="0" err="1">
                <a:solidFill>
                  <a:schemeClr val="bg1"/>
                </a:solidFill>
              </a:rPr>
              <a:t>sns.scatterplot</a:t>
            </a:r>
            <a:r>
              <a:rPr lang="en-US" sz="2400" dirty="0">
                <a:solidFill>
                  <a:schemeClr val="bg1"/>
                </a:solidFill>
              </a:rPr>
              <a:t>(x='</a:t>
            </a:r>
            <a:r>
              <a:rPr lang="en-US" sz="2400" dirty="0" err="1">
                <a:solidFill>
                  <a:schemeClr val="bg1"/>
                </a:solidFill>
              </a:rPr>
              <a:t>age',y</a:t>
            </a:r>
            <a:r>
              <a:rPr lang="en-US" sz="2400" dirty="0">
                <a:solidFill>
                  <a:schemeClr val="bg1"/>
                </a:solidFill>
              </a:rPr>
              <a:t>='</a:t>
            </a:r>
            <a:r>
              <a:rPr lang="en-US" sz="2400" dirty="0" err="1">
                <a:solidFill>
                  <a:schemeClr val="bg1"/>
                </a:solidFill>
              </a:rPr>
              <a:t>bmi</a:t>
            </a:r>
            <a:r>
              <a:rPr lang="en-US" sz="2400" dirty="0">
                <a:solidFill>
                  <a:schemeClr val="bg1"/>
                </a:solidFill>
              </a:rPr>
              <a:t>', size='</a:t>
            </a:r>
            <a:r>
              <a:rPr lang="en-US" sz="2400" dirty="0" err="1">
                <a:solidFill>
                  <a:schemeClr val="bg1"/>
                </a:solidFill>
              </a:rPr>
              <a:t>exercise',hue</a:t>
            </a:r>
            <a:r>
              <a:rPr lang="en-US" sz="2400" dirty="0">
                <a:solidFill>
                  <a:schemeClr val="bg1"/>
                </a:solidFill>
              </a:rPr>
              <a:t>='</a:t>
            </a:r>
            <a:r>
              <a:rPr lang="en-US" sz="2400" dirty="0" err="1">
                <a:solidFill>
                  <a:schemeClr val="bg1"/>
                </a:solidFill>
              </a:rPr>
              <a:t>health_risk</a:t>
            </a:r>
            <a:r>
              <a:rPr lang="en-US" sz="2400" dirty="0">
                <a:solidFill>
                  <a:schemeClr val="bg1"/>
                </a:solidFill>
              </a:rPr>
              <a:t>', data=</a:t>
            </a:r>
            <a:r>
              <a:rPr lang="en-US" sz="2400" dirty="0" err="1">
                <a:solidFill>
                  <a:schemeClr val="bg1"/>
                </a:solidFill>
              </a:rPr>
              <a:t>df_healtRisk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algn="r"/>
            <a:endParaRPr lang="en-US" sz="2800" dirty="0">
              <a:solidFill>
                <a:schemeClr val="bg1"/>
              </a:solidFill>
            </a:endParaRPr>
          </a:p>
          <a:p>
            <a:pPr algn="r"/>
            <a:endParaRPr lang="he-IL" sz="2800" dirty="0">
              <a:solidFill>
                <a:schemeClr val="bg1"/>
              </a:solidFill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E406F66-E378-5C29-83E3-833347EA7AE0}"/>
              </a:ext>
            </a:extLst>
          </p:cNvPr>
          <p:cNvSpPr txBox="1"/>
          <p:nvPr/>
        </p:nvSpPr>
        <p:spPr>
          <a:xfrm>
            <a:off x="2065866" y="5462256"/>
            <a:ext cx="8644467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b="1" dirty="0">
                <a:solidFill>
                  <a:schemeClr val="bg1"/>
                </a:solidFill>
              </a:rPr>
              <a:t>הסבר: </a:t>
            </a:r>
            <a:r>
              <a:rPr lang="he-IL" sz="2000" dirty="0">
                <a:solidFill>
                  <a:schemeClr val="bg1"/>
                </a:solidFill>
              </a:rPr>
              <a:t>בתרשים ניתן לראות שככל שהגיל ומסת הגוף נמוכים יותר, והאדם מתאמן יותר- הסיכוי שלו לחלות נמוך יותר. ככל שהגיל ומסת הגוף עולים, וככל שהאדם מתאמן פחות סיכוייו לחולי הולכים </a:t>
            </a:r>
            <a:r>
              <a:rPr lang="he-IL" sz="2000" dirty="0" err="1">
                <a:solidFill>
                  <a:schemeClr val="bg1"/>
                </a:solidFill>
              </a:rPr>
              <a:t>וגובהים</a:t>
            </a:r>
            <a:r>
              <a:rPr lang="he-IL" sz="2000" dirty="0">
                <a:solidFill>
                  <a:schemeClr val="bg1"/>
                </a:solidFill>
              </a:rPr>
              <a:t>.</a:t>
            </a:r>
            <a:endParaRPr lang="he-IL" sz="2000" b="1" dirty="0">
              <a:solidFill>
                <a:schemeClr val="bg1"/>
              </a:solidFill>
            </a:endParaRPr>
          </a:p>
          <a:p>
            <a:pPr algn="r"/>
            <a:r>
              <a:rPr lang="he-IL" sz="2000" b="1" dirty="0">
                <a:solidFill>
                  <a:schemeClr val="bg1"/>
                </a:solidFill>
              </a:rPr>
              <a:t>תובנה</a:t>
            </a:r>
            <a:r>
              <a:rPr lang="he-IL" sz="2000" b="1" i="1" dirty="0">
                <a:solidFill>
                  <a:schemeClr val="bg1"/>
                </a:solidFill>
              </a:rPr>
              <a:t>: </a:t>
            </a:r>
            <a:r>
              <a:rPr lang="he-IL" sz="2000" dirty="0">
                <a:solidFill>
                  <a:schemeClr val="bg1"/>
                </a:solidFill>
              </a:rPr>
              <a:t>הגיל מעצים את הסיכון, שתלוי גם במסת הגוף.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4313D011-235C-5A04-86D3-807D120C653A}"/>
              </a:ext>
            </a:extLst>
          </p:cNvPr>
          <p:cNvSpPr txBox="1"/>
          <p:nvPr/>
        </p:nvSpPr>
        <p:spPr>
          <a:xfrm>
            <a:off x="3267584" y="370968"/>
            <a:ext cx="72559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solidFill>
                  <a:schemeClr val="bg1"/>
                </a:solidFill>
              </a:rPr>
              <a:t>3. שילוב רב משתני: גיל, פעילות גופנית ומדד מסת הגוף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3BB31923-6F3D-CA39-AA49-C0C7CCB14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654" y="1924846"/>
            <a:ext cx="4513792" cy="346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35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F489F-34AD-E572-2D89-0DD15760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C2C3A76-DB4D-868F-82A3-3DE92A1ABE0D}"/>
              </a:ext>
            </a:extLst>
          </p:cNvPr>
          <p:cNvSpPr txBox="1"/>
          <p:nvPr/>
        </p:nvSpPr>
        <p:spPr>
          <a:xfrm>
            <a:off x="2480183" y="1607277"/>
            <a:ext cx="8128000" cy="60631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b="1" dirty="0">
                <a:solidFill>
                  <a:schemeClr val="bg1"/>
                </a:solidFill>
              </a:rPr>
              <a:t>פעולות מרכזיות:</a:t>
            </a:r>
            <a:endParaRPr lang="en-US" sz="2000" b="1" dirty="0">
              <a:solidFill>
                <a:schemeClr val="bg1"/>
              </a:solidFill>
            </a:endParaRPr>
          </a:p>
          <a:p>
            <a:pPr algn="r"/>
            <a:endParaRPr lang="he-IL" sz="2400" b="1" dirty="0">
              <a:solidFill>
                <a:schemeClr val="bg1"/>
              </a:solidFill>
            </a:endParaRPr>
          </a:p>
          <a:p>
            <a:pPr marL="514350" indent="-514350" algn="r">
              <a:buAutoNum type="arabicPeriod"/>
            </a:pPr>
            <a:r>
              <a:rPr lang="he-IL" sz="2000" dirty="0">
                <a:solidFill>
                  <a:schemeClr val="bg1"/>
                </a:solidFill>
              </a:rPr>
              <a:t>1. מחיקת עמודות מיותרות(משקל וגובה- שכלולים במסת הגוף, וכן נשוי/לא. לא רלוונטי).</a:t>
            </a:r>
          </a:p>
          <a:p>
            <a:pPr algn="r"/>
            <a:r>
              <a:rPr lang="he-IL" sz="2000" dirty="0">
                <a:solidFill>
                  <a:schemeClr val="bg1"/>
                </a:solidFill>
              </a:rPr>
              <a:t>2. הוספת התכונה "שימוש כפול בחומרים ממכרים", המשלבת עישון ואלכוהול, מתוך הנחה שהשילוב יעיל יותר בחיזוי.</a:t>
            </a:r>
            <a:endParaRPr lang="en-US" sz="2000" dirty="0">
              <a:solidFill>
                <a:schemeClr val="bg1"/>
              </a:solidFill>
            </a:endParaRPr>
          </a:p>
          <a:p>
            <a:pPr algn="r"/>
            <a:endParaRPr lang="en-US" sz="2000" dirty="0">
              <a:solidFill>
                <a:schemeClr val="bg1"/>
              </a:solidFill>
            </a:endParaRPr>
          </a:p>
          <a:p>
            <a:pPr algn="r"/>
            <a:r>
              <a:rPr lang="he-IL" dirty="0"/>
              <a:t>#צמצום עמודות מיותרות:</a:t>
            </a:r>
            <a:endParaRPr lang="en-US" dirty="0"/>
          </a:p>
          <a:p>
            <a:pPr algn="r"/>
            <a:endParaRPr lang="en-US" sz="2400" dirty="0"/>
          </a:p>
          <a:p>
            <a:r>
              <a:rPr lang="en-US" sz="2000" dirty="0" err="1">
                <a:solidFill>
                  <a:schemeClr val="bg1"/>
                </a:solidFill>
              </a:rPr>
              <a:t>df_processed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chemeClr val="bg1"/>
                </a:solidFill>
              </a:rPr>
              <a:t>df_healtRisk.drop</a:t>
            </a:r>
            <a:r>
              <a:rPr lang="en-US" sz="2000" dirty="0">
                <a:solidFill>
                  <a:schemeClr val="bg1"/>
                </a:solidFill>
              </a:rPr>
              <a:t>(columns=['weight', '</a:t>
            </a:r>
            <a:r>
              <a:rPr lang="en-US" sz="2000" dirty="0" err="1">
                <a:solidFill>
                  <a:schemeClr val="bg1"/>
                </a:solidFill>
              </a:rPr>
              <a:t>height','married</a:t>
            </a:r>
            <a:r>
              <a:rPr lang="en-US" sz="2000" dirty="0">
                <a:solidFill>
                  <a:schemeClr val="bg1"/>
                </a:solidFill>
              </a:rPr>
              <a:t>'])</a:t>
            </a:r>
          </a:p>
          <a:p>
            <a:pPr algn="r"/>
            <a:endParaRPr lang="en-US" sz="2000" dirty="0">
              <a:solidFill>
                <a:schemeClr val="bg1"/>
              </a:solidFill>
            </a:endParaRPr>
          </a:p>
          <a:p>
            <a:pPr algn="r"/>
            <a:r>
              <a:rPr lang="he-IL" dirty="0"/>
              <a:t>#הוספת עמודה של צריכה כפולה של חומרים ממכרים</a:t>
            </a:r>
          </a:p>
          <a:p>
            <a:pPr algn="r"/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df_healtRisk</a:t>
            </a:r>
            <a:r>
              <a:rPr lang="en-US" dirty="0">
                <a:solidFill>
                  <a:schemeClr val="bg1"/>
                </a:solidFill>
              </a:rPr>
              <a:t>['</a:t>
            </a:r>
            <a:r>
              <a:rPr lang="en-US" dirty="0" err="1">
                <a:solidFill>
                  <a:schemeClr val="bg1"/>
                </a:solidFill>
              </a:rPr>
              <a:t>dual_substance_use</a:t>
            </a:r>
            <a:r>
              <a:rPr lang="en-US" dirty="0">
                <a:solidFill>
                  <a:schemeClr val="bg1"/>
                </a:solidFill>
              </a:rPr>
              <a:t>']=0</a:t>
            </a:r>
          </a:p>
          <a:p>
            <a:r>
              <a:rPr lang="en-US" dirty="0" err="1">
                <a:solidFill>
                  <a:schemeClr val="bg1"/>
                </a:solidFill>
              </a:rPr>
              <a:t>dual_use_condition</a:t>
            </a:r>
            <a:r>
              <a:rPr lang="en-US" dirty="0">
                <a:solidFill>
                  <a:schemeClr val="bg1"/>
                </a:solidFill>
              </a:rPr>
              <a:t>=(</a:t>
            </a:r>
            <a:r>
              <a:rPr lang="en-US" dirty="0" err="1">
                <a:solidFill>
                  <a:schemeClr val="bg1"/>
                </a:solidFill>
              </a:rPr>
              <a:t>df_healtRisk</a:t>
            </a:r>
            <a:r>
              <a:rPr lang="en-US" dirty="0">
                <a:solidFill>
                  <a:schemeClr val="bg1"/>
                </a:solidFill>
              </a:rPr>
              <a:t>['smoking']=='</a:t>
            </a:r>
            <a:r>
              <a:rPr lang="en-US" dirty="0" err="1">
                <a:solidFill>
                  <a:schemeClr val="bg1"/>
                </a:solidFill>
              </a:rPr>
              <a:t>yes'</a:t>
            </a:r>
            <a:r>
              <a:rPr lang="en-US" dirty="0">
                <a:solidFill>
                  <a:schemeClr val="bg1"/>
                </a:solidFill>
              </a:rPr>
              <a:t>)&amp;(</a:t>
            </a:r>
            <a:r>
              <a:rPr lang="en-US" dirty="0" err="1">
                <a:solidFill>
                  <a:schemeClr val="bg1"/>
                </a:solidFill>
              </a:rPr>
              <a:t>df_healtRisk</a:t>
            </a:r>
            <a:r>
              <a:rPr lang="en-US" dirty="0">
                <a:solidFill>
                  <a:schemeClr val="bg1"/>
                </a:solidFill>
              </a:rPr>
              <a:t>['alcohol']=='</a:t>
            </a:r>
            <a:r>
              <a:rPr lang="en-US" dirty="0" err="1">
                <a:solidFill>
                  <a:schemeClr val="bg1"/>
                </a:solidFill>
              </a:rPr>
              <a:t>yes'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 err="1">
                <a:solidFill>
                  <a:schemeClr val="bg1"/>
                </a:solidFill>
              </a:rPr>
              <a:t>df_healtRisk.loc</a:t>
            </a:r>
            <a:r>
              <a:rPr lang="en-US" dirty="0">
                <a:solidFill>
                  <a:schemeClr val="bg1"/>
                </a:solidFill>
              </a:rPr>
              <a:t>[dual_use_condition,'</a:t>
            </a:r>
            <a:r>
              <a:rPr lang="en-US" dirty="0" err="1">
                <a:solidFill>
                  <a:schemeClr val="bg1"/>
                </a:solidFill>
              </a:rPr>
              <a:t>dual_substance_use</a:t>
            </a:r>
            <a:r>
              <a:rPr lang="en-US" dirty="0">
                <a:solidFill>
                  <a:schemeClr val="bg1"/>
                </a:solidFill>
              </a:rPr>
              <a:t>’]=1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he-IL" sz="2800" dirty="0">
              <a:solidFill>
                <a:schemeClr val="bg1"/>
              </a:solidFill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0089FB47-E46E-CC98-B68A-7150C4D79278}"/>
              </a:ext>
            </a:extLst>
          </p:cNvPr>
          <p:cNvSpPr txBox="1"/>
          <p:nvPr/>
        </p:nvSpPr>
        <p:spPr>
          <a:xfrm>
            <a:off x="2916217" y="438245"/>
            <a:ext cx="7255933" cy="8925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solidFill>
                  <a:schemeClr val="bg1"/>
                </a:solidFill>
              </a:rPr>
              <a:t>שלב הבא-</a:t>
            </a:r>
          </a:p>
          <a:p>
            <a:pPr algn="ctr"/>
            <a:r>
              <a:rPr lang="he-IL" sz="2800" u="sng" dirty="0">
                <a:solidFill>
                  <a:schemeClr val="bg1"/>
                </a:solidFill>
              </a:rPr>
              <a:t>הכנת הנתונים: סידור תכונות וניקוי רעש</a:t>
            </a:r>
            <a:endParaRPr lang="he-IL" sz="28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15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D6E9E-D247-DCE4-0604-BDD20CB3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1EEF377-1540-3F70-9145-96760B619CFE}"/>
              </a:ext>
            </a:extLst>
          </p:cNvPr>
          <p:cNvSpPr txBox="1"/>
          <p:nvPr/>
        </p:nvSpPr>
        <p:spPr>
          <a:xfrm>
            <a:off x="2497116" y="1048420"/>
            <a:ext cx="8128000" cy="843307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b="1" dirty="0">
                <a:solidFill>
                  <a:schemeClr val="bg1"/>
                </a:solidFill>
              </a:rPr>
              <a:t>פעולות מרכזיות:</a:t>
            </a:r>
            <a:endParaRPr lang="en-US" sz="2000" b="1" dirty="0">
              <a:solidFill>
                <a:schemeClr val="bg1"/>
              </a:solidFill>
            </a:endParaRPr>
          </a:p>
          <a:p>
            <a:pPr algn="r"/>
            <a:endParaRPr lang="en-US" sz="2000" dirty="0">
              <a:solidFill>
                <a:schemeClr val="bg1"/>
              </a:solidFill>
            </a:endParaRPr>
          </a:p>
          <a:p>
            <a:pPr marL="457200" indent="-457200" algn="r">
              <a:buAutoNum type="arabicPeriod"/>
            </a:pPr>
            <a:r>
              <a:rPr lang="he-IL" sz="2000" dirty="0">
                <a:solidFill>
                  <a:schemeClr val="bg1"/>
                </a:solidFill>
              </a:rPr>
              <a:t>השתמשנו בנרמול                        כדי להביא את הנתונים המספריים לטווח מספרים שבין 0 ל-1, כדי שכל המשתנים ישפיעו בצורה שווה על המודל.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scaler=</a:t>
            </a:r>
            <a:r>
              <a:rPr lang="en-US" dirty="0" err="1">
                <a:solidFill>
                  <a:schemeClr val="bg1"/>
                </a:solidFill>
              </a:rPr>
              <a:t>MinMaxScaler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r>
              <a:rPr lang="en-US" dirty="0" err="1">
                <a:solidFill>
                  <a:schemeClr val="bg1"/>
                </a:solidFill>
              </a:rPr>
              <a:t>X_numerical_scaled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pd.DataFrame</a:t>
            </a:r>
            <a:r>
              <a:rPr lang="en-US" dirty="0">
                <a:solidFill>
                  <a:schemeClr val="bg1"/>
                </a:solidFill>
              </a:rPr>
              <a:t>(</a:t>
            </a:r>
          </a:p>
          <a:p>
            <a:r>
              <a:rPr lang="en-US" dirty="0">
                <a:solidFill>
                  <a:schemeClr val="bg1"/>
                </a:solidFill>
              </a:rPr>
              <a:t>    </a:t>
            </a:r>
            <a:r>
              <a:rPr lang="en-US" dirty="0" err="1">
                <a:solidFill>
                  <a:schemeClr val="bg1"/>
                </a:solidFill>
              </a:rPr>
              <a:t>scaler.fit_transform</a:t>
            </a:r>
            <a:r>
              <a:rPr lang="en-US" dirty="0">
                <a:solidFill>
                  <a:schemeClr val="bg1"/>
                </a:solidFill>
              </a:rPr>
              <a:t>(X[</a:t>
            </a:r>
            <a:r>
              <a:rPr lang="en-US" dirty="0" err="1">
                <a:solidFill>
                  <a:schemeClr val="bg1"/>
                </a:solidFill>
              </a:rPr>
              <a:t>numerical_cols</a:t>
            </a:r>
            <a:r>
              <a:rPr lang="en-US" dirty="0">
                <a:solidFill>
                  <a:schemeClr val="bg1"/>
                </a:solidFill>
              </a:rPr>
              <a:t>]), </a:t>
            </a:r>
          </a:p>
          <a:p>
            <a:r>
              <a:rPr lang="en-US" dirty="0">
                <a:solidFill>
                  <a:schemeClr val="bg1"/>
                </a:solidFill>
              </a:rPr>
              <a:t>    columns=</a:t>
            </a:r>
            <a:r>
              <a:rPr lang="en-US" dirty="0" err="1">
                <a:solidFill>
                  <a:schemeClr val="bg1"/>
                </a:solidFill>
              </a:rPr>
              <a:t>numerical_cols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 err="1">
                <a:solidFill>
                  <a:schemeClr val="bg1"/>
                </a:solidFill>
              </a:rPr>
              <a:t>X_numerical_scaled.reset_index</a:t>
            </a:r>
            <a:r>
              <a:rPr lang="en-US" dirty="0">
                <a:solidFill>
                  <a:schemeClr val="bg1"/>
                </a:solidFill>
              </a:rPr>
              <a:t>(drop=True, </a:t>
            </a:r>
            <a:r>
              <a:rPr lang="en-US" dirty="0" err="1">
                <a:solidFill>
                  <a:schemeClr val="bg1"/>
                </a:solidFill>
              </a:rPr>
              <a:t>inplace</a:t>
            </a:r>
            <a:r>
              <a:rPr lang="en-US" dirty="0">
                <a:solidFill>
                  <a:schemeClr val="bg1"/>
                </a:solidFill>
              </a:rPr>
              <a:t>=True)</a:t>
            </a:r>
          </a:p>
          <a:p>
            <a:pPr algn="r"/>
            <a:endParaRPr lang="he-IL" sz="2000" dirty="0">
              <a:solidFill>
                <a:schemeClr val="bg1"/>
              </a:solidFill>
            </a:endParaRPr>
          </a:p>
          <a:p>
            <a:pPr algn="r"/>
            <a:r>
              <a:rPr lang="he-IL" sz="2000" dirty="0">
                <a:solidFill>
                  <a:schemeClr val="bg1"/>
                </a:solidFill>
              </a:rPr>
              <a:t>2. קידוד: המרנו את המשתנים הקטגוריים לפורמט מספרי באמצעות 0/1 כנדרש למודל ע"י 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X_categorical_encoded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pd.get_dummies</a:t>
            </a:r>
            <a:r>
              <a:rPr lang="en-US" dirty="0">
                <a:solidFill>
                  <a:schemeClr val="bg1"/>
                </a:solidFill>
              </a:rPr>
              <a:t>(</a:t>
            </a:r>
          </a:p>
          <a:p>
            <a:r>
              <a:rPr lang="en-US" dirty="0">
                <a:solidFill>
                  <a:schemeClr val="bg1"/>
                </a:solidFill>
              </a:rPr>
              <a:t>    </a:t>
            </a:r>
            <a:r>
              <a:rPr lang="en-US" dirty="0" err="1">
                <a:solidFill>
                  <a:schemeClr val="bg1"/>
                </a:solidFill>
              </a:rPr>
              <a:t>df_processed</a:t>
            </a:r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en-US" dirty="0" err="1">
                <a:solidFill>
                  <a:schemeClr val="bg1"/>
                </a:solidFill>
              </a:rPr>
              <a:t>categorical_cols</a:t>
            </a:r>
            <a:r>
              <a:rPr lang="en-US" dirty="0">
                <a:solidFill>
                  <a:schemeClr val="bg1"/>
                </a:solidFill>
              </a:rPr>
              <a:t>], </a:t>
            </a:r>
          </a:p>
          <a:p>
            <a:r>
              <a:rPr lang="en-US" dirty="0">
                <a:solidFill>
                  <a:schemeClr val="bg1"/>
                </a:solidFill>
              </a:rPr>
              <a:t>    </a:t>
            </a:r>
            <a:r>
              <a:rPr lang="en-US" dirty="0" err="1">
                <a:solidFill>
                  <a:schemeClr val="bg1"/>
                </a:solidFill>
              </a:rPr>
              <a:t>drop_first</a:t>
            </a:r>
            <a:r>
              <a:rPr lang="en-US" dirty="0">
                <a:solidFill>
                  <a:schemeClr val="bg1"/>
                </a:solidFill>
              </a:rPr>
              <a:t>=False </a:t>
            </a:r>
          </a:p>
          <a:p>
            <a:r>
              <a:rPr lang="en-US" dirty="0">
                <a:solidFill>
                  <a:schemeClr val="bg1"/>
                </a:solidFill>
              </a:rPr>
              <a:t>).</a:t>
            </a:r>
            <a:r>
              <a:rPr lang="en-US" dirty="0" err="1">
                <a:solidFill>
                  <a:schemeClr val="bg1"/>
                </a:solidFill>
              </a:rPr>
              <a:t>astype</a:t>
            </a:r>
            <a:r>
              <a:rPr lang="en-US" dirty="0">
                <a:solidFill>
                  <a:schemeClr val="bg1"/>
                </a:solidFill>
              </a:rPr>
              <a:t>(int)</a:t>
            </a:r>
          </a:p>
          <a:p>
            <a:r>
              <a:rPr lang="en-US" dirty="0" err="1">
                <a:solidFill>
                  <a:schemeClr val="bg1"/>
                </a:solidFill>
              </a:rPr>
              <a:t>X_categorical_encoded.reset_index</a:t>
            </a:r>
            <a:r>
              <a:rPr lang="en-US" dirty="0">
                <a:solidFill>
                  <a:schemeClr val="bg1"/>
                </a:solidFill>
              </a:rPr>
              <a:t>(drop=True, </a:t>
            </a:r>
            <a:r>
              <a:rPr lang="en-US" dirty="0" err="1">
                <a:solidFill>
                  <a:schemeClr val="bg1"/>
                </a:solidFill>
              </a:rPr>
              <a:t>inplace</a:t>
            </a:r>
            <a:r>
              <a:rPr lang="en-US" dirty="0">
                <a:solidFill>
                  <a:schemeClr val="bg1"/>
                </a:solidFill>
              </a:rPr>
              <a:t>=True)</a:t>
            </a:r>
          </a:p>
          <a:p>
            <a:pPr algn="r"/>
            <a:endParaRPr lang="en-US" sz="2000" dirty="0">
              <a:solidFill>
                <a:schemeClr val="bg1"/>
              </a:solidFill>
            </a:endParaRPr>
          </a:p>
          <a:p>
            <a:pPr algn="r"/>
            <a:endParaRPr lang="en-US" sz="2000" dirty="0">
              <a:solidFill>
                <a:schemeClr val="bg1"/>
              </a:solidFill>
            </a:endParaRPr>
          </a:p>
          <a:p>
            <a:pPr algn="r"/>
            <a:endParaRPr lang="en-US" sz="2000" dirty="0">
              <a:solidFill>
                <a:schemeClr val="bg1"/>
              </a:solidFill>
            </a:endParaRPr>
          </a:p>
          <a:p>
            <a:pPr algn="r"/>
            <a:endParaRPr lang="he-IL" dirty="0"/>
          </a:p>
          <a:p>
            <a:pPr algn="r"/>
            <a:endParaRPr lang="en-US" dirty="0"/>
          </a:p>
          <a:p>
            <a:pPr algn="r"/>
            <a:endParaRPr lang="en-US" sz="2400" dirty="0"/>
          </a:p>
          <a:p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he-IL" sz="2800" dirty="0">
              <a:solidFill>
                <a:schemeClr val="bg1"/>
              </a:solidFill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273BBF5C-82BC-8F9E-53DE-78286B021E26}"/>
              </a:ext>
            </a:extLst>
          </p:cNvPr>
          <p:cNvSpPr txBox="1"/>
          <p:nvPr/>
        </p:nvSpPr>
        <p:spPr>
          <a:xfrm>
            <a:off x="2848483" y="463645"/>
            <a:ext cx="725593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solidFill>
                  <a:schemeClr val="bg1"/>
                </a:solidFill>
              </a:rPr>
              <a:t>נרמול וקידוד – הכנה למודל</a:t>
            </a:r>
            <a:endParaRPr lang="he-IL" sz="2800" b="1" u="sng" dirty="0">
              <a:solidFill>
                <a:schemeClr val="bg1"/>
              </a:solidFill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F6E70F9-1DEC-E941-1614-FBFCD9C5D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585" y="1729297"/>
            <a:ext cx="1409897" cy="266737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C64D80CB-F30D-A33C-35BA-041EA9CC2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658" y="4930410"/>
            <a:ext cx="1790950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16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38781-3D19-CEA0-2230-23D08AA3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4937FAF6-28DA-423B-716D-CCED1AD57041}"/>
              </a:ext>
            </a:extLst>
          </p:cNvPr>
          <p:cNvSpPr txBox="1"/>
          <p:nvPr/>
        </p:nvSpPr>
        <p:spPr>
          <a:xfrm>
            <a:off x="2497116" y="1048420"/>
            <a:ext cx="8128000" cy="63709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b="1" dirty="0">
                <a:solidFill>
                  <a:schemeClr val="bg1"/>
                </a:solidFill>
              </a:rPr>
              <a:t>אימון המודל</a:t>
            </a:r>
            <a:endParaRPr lang="en-US" sz="2000" b="1" dirty="0">
              <a:solidFill>
                <a:schemeClr val="bg1"/>
              </a:solidFill>
            </a:endParaRPr>
          </a:p>
          <a:p>
            <a:pPr algn="r"/>
            <a:endParaRPr lang="en-US" sz="2000" dirty="0">
              <a:solidFill>
                <a:schemeClr val="bg1"/>
              </a:solidFill>
            </a:endParaRPr>
          </a:p>
          <a:p>
            <a:pPr algn="r"/>
            <a:r>
              <a:rPr lang="he-IL" sz="2000" dirty="0">
                <a:solidFill>
                  <a:schemeClr val="bg1"/>
                </a:solidFill>
              </a:rPr>
              <a:t>תהליך: חילקנו את הנתונים ל-80% אימון ו-20% בדיקה.</a:t>
            </a:r>
            <a:endParaRPr lang="en-US" sz="2000" dirty="0">
              <a:solidFill>
                <a:schemeClr val="bg1"/>
              </a:solidFill>
            </a:endParaRPr>
          </a:p>
          <a:p>
            <a:pPr algn="r"/>
            <a:r>
              <a:rPr lang="en-US" sz="2000" dirty="0">
                <a:solidFill>
                  <a:schemeClr val="bg1"/>
                </a:solidFill>
              </a:rPr>
              <a:t>K=10</a:t>
            </a:r>
            <a:r>
              <a:rPr lang="he-IL" sz="2000" dirty="0">
                <a:solidFill>
                  <a:schemeClr val="bg1"/>
                </a:solidFill>
              </a:rPr>
              <a:t>בחרנו באופן ראשוני 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X_train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X_test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y_train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y_test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train_test_split</a:t>
            </a:r>
            <a:r>
              <a:rPr lang="en-US" dirty="0">
                <a:solidFill>
                  <a:schemeClr val="bg1"/>
                </a:solidFill>
              </a:rPr>
              <a:t>(</a:t>
            </a:r>
          </a:p>
          <a:p>
            <a:r>
              <a:rPr lang="en-US" dirty="0">
                <a:solidFill>
                  <a:schemeClr val="bg1"/>
                </a:solidFill>
              </a:rPr>
              <a:t>    </a:t>
            </a:r>
            <a:r>
              <a:rPr lang="en-US" dirty="0" err="1">
                <a:solidFill>
                  <a:schemeClr val="bg1"/>
                </a:solidFill>
              </a:rPr>
              <a:t>X_final</a:t>
            </a:r>
            <a:r>
              <a:rPr lang="en-US" dirty="0">
                <a:solidFill>
                  <a:schemeClr val="bg1"/>
                </a:solidFill>
              </a:rPr>
              <a:t>, y, </a:t>
            </a:r>
            <a:r>
              <a:rPr lang="en-US" dirty="0" err="1">
                <a:solidFill>
                  <a:schemeClr val="bg1"/>
                </a:solidFill>
              </a:rPr>
              <a:t>test_size</a:t>
            </a:r>
            <a:r>
              <a:rPr lang="en-US" dirty="0">
                <a:solidFill>
                  <a:schemeClr val="bg1"/>
                </a:solidFill>
              </a:rPr>
              <a:t>=0.2, </a:t>
            </a:r>
            <a:r>
              <a:rPr lang="en-US" dirty="0" err="1">
                <a:solidFill>
                  <a:schemeClr val="bg1"/>
                </a:solidFill>
              </a:rPr>
              <a:t>random_state</a:t>
            </a:r>
            <a:r>
              <a:rPr lang="en-US" dirty="0">
                <a:solidFill>
                  <a:schemeClr val="bg1"/>
                </a:solidFill>
              </a:rPr>
              <a:t>=42</a:t>
            </a:r>
          </a:p>
          <a:p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N=10</a:t>
            </a:r>
          </a:p>
          <a:p>
            <a:r>
              <a:rPr lang="en-US" dirty="0" err="1">
                <a:solidFill>
                  <a:schemeClr val="bg1"/>
                </a:solidFill>
              </a:rPr>
              <a:t>knn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KNeighborsClassifier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n_neighbors</a:t>
            </a:r>
            <a:r>
              <a:rPr lang="en-US" dirty="0">
                <a:solidFill>
                  <a:schemeClr val="bg1"/>
                </a:solidFill>
              </a:rPr>
              <a:t>=N)</a:t>
            </a:r>
          </a:p>
          <a:p>
            <a:r>
              <a:rPr lang="en-US" dirty="0" err="1">
                <a:solidFill>
                  <a:schemeClr val="bg1"/>
                </a:solidFill>
              </a:rPr>
              <a:t>knn.fit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X_train,y_train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he-IL" sz="2000" dirty="0">
                <a:solidFill>
                  <a:schemeClr val="bg1"/>
                </a:solidFill>
              </a:rPr>
              <a:t>בדיקת החיזוי לעומת התוצאות האמיתיות:</a:t>
            </a:r>
          </a:p>
          <a:p>
            <a:r>
              <a:rPr lang="en-US" dirty="0" err="1">
                <a:solidFill>
                  <a:schemeClr val="bg1"/>
                </a:solidFill>
              </a:rPr>
              <a:t>y_pred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en-US" dirty="0" err="1">
                <a:solidFill>
                  <a:schemeClr val="bg1"/>
                </a:solidFill>
              </a:rPr>
              <a:t>knn.predict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X_test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algn="r"/>
            <a:endParaRPr lang="en-US" sz="2000" dirty="0">
              <a:solidFill>
                <a:schemeClr val="bg1"/>
              </a:solidFill>
            </a:endParaRPr>
          </a:p>
          <a:p>
            <a:pPr algn="r"/>
            <a:endParaRPr lang="he-IL" dirty="0"/>
          </a:p>
          <a:p>
            <a:pPr algn="r"/>
            <a:endParaRPr lang="en-US" dirty="0"/>
          </a:p>
          <a:p>
            <a:pPr algn="r"/>
            <a:endParaRPr lang="en-US" sz="2400" dirty="0"/>
          </a:p>
          <a:p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he-IL" sz="2800" dirty="0">
              <a:solidFill>
                <a:schemeClr val="bg1"/>
              </a:solidFill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AD19739-6759-2656-7A0A-AE6DAC06C16F}"/>
              </a:ext>
            </a:extLst>
          </p:cNvPr>
          <p:cNvSpPr txBox="1"/>
          <p:nvPr/>
        </p:nvSpPr>
        <p:spPr>
          <a:xfrm>
            <a:off x="2933149" y="446372"/>
            <a:ext cx="725593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KNN</a:t>
            </a:r>
            <a:r>
              <a:rPr lang="he-IL" sz="2800" b="1" dirty="0">
                <a:solidFill>
                  <a:schemeClr val="bg1"/>
                </a:solidFill>
              </a:rPr>
              <a:t>בניית מודל ה </a:t>
            </a:r>
            <a:endParaRPr lang="he-IL" sz="28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164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9E57A-EDCD-912C-6238-525A89BE9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A032872B-AA33-FA42-807B-B680F7EC3182}"/>
              </a:ext>
            </a:extLst>
          </p:cNvPr>
          <p:cNvSpPr txBox="1"/>
          <p:nvPr/>
        </p:nvSpPr>
        <p:spPr>
          <a:xfrm>
            <a:off x="2497116" y="1048420"/>
            <a:ext cx="8128000" cy="37240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display_labels</a:t>
            </a:r>
            <a:r>
              <a:rPr lang="en-US" dirty="0">
                <a:solidFill>
                  <a:schemeClr val="bg1"/>
                </a:solidFill>
              </a:rPr>
              <a:t> = ['Low Risk (0)', 'High Risk (1)'] </a:t>
            </a:r>
          </a:p>
          <a:p>
            <a:r>
              <a:rPr lang="en-US" dirty="0" err="1">
                <a:solidFill>
                  <a:schemeClr val="bg1"/>
                </a:solidFill>
              </a:rPr>
              <a:t>ConfusionMatrixDisplay</a:t>
            </a:r>
            <a:r>
              <a:rPr lang="en-US" dirty="0">
                <a:solidFill>
                  <a:schemeClr val="bg1"/>
                </a:solidFill>
              </a:rPr>
              <a:t>(</a:t>
            </a:r>
          </a:p>
          <a:p>
            <a:r>
              <a:rPr lang="en-US" dirty="0">
                <a:solidFill>
                  <a:schemeClr val="bg1"/>
                </a:solidFill>
              </a:rPr>
              <a:t>    </a:t>
            </a:r>
            <a:r>
              <a:rPr lang="en-US" dirty="0" err="1">
                <a:solidFill>
                  <a:schemeClr val="bg1"/>
                </a:solidFill>
              </a:rPr>
              <a:t>confusion_matrix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y_test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y_pred</a:t>
            </a:r>
            <a:r>
              <a:rPr lang="en-US" dirty="0">
                <a:solidFill>
                  <a:schemeClr val="bg1"/>
                </a:solidFill>
              </a:rPr>
              <a:t>),</a:t>
            </a:r>
          </a:p>
          <a:p>
            <a:r>
              <a:rPr lang="en-US" dirty="0">
                <a:solidFill>
                  <a:schemeClr val="bg1"/>
                </a:solidFill>
              </a:rPr>
              <a:t>    </a:t>
            </a:r>
            <a:r>
              <a:rPr lang="en-US" dirty="0" err="1">
                <a:solidFill>
                  <a:schemeClr val="bg1"/>
                </a:solidFill>
              </a:rPr>
              <a:t>display_labels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en-US" dirty="0" err="1">
                <a:solidFill>
                  <a:schemeClr val="bg1"/>
                </a:solidFill>
              </a:rPr>
              <a:t>display_labels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).plot()</a:t>
            </a:r>
          </a:p>
          <a:p>
            <a:pPr algn="r"/>
            <a:endParaRPr lang="en-US" sz="2000" dirty="0">
              <a:solidFill>
                <a:schemeClr val="bg1"/>
              </a:solidFill>
            </a:endParaRPr>
          </a:p>
          <a:p>
            <a:pPr algn="r"/>
            <a:endParaRPr lang="he-IL" dirty="0"/>
          </a:p>
          <a:p>
            <a:pPr algn="r"/>
            <a:endParaRPr lang="en-US" dirty="0"/>
          </a:p>
          <a:p>
            <a:pPr algn="r"/>
            <a:endParaRPr lang="en-US" sz="2400" dirty="0"/>
          </a:p>
          <a:p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he-IL" sz="2800" dirty="0">
              <a:solidFill>
                <a:schemeClr val="bg1"/>
              </a:solidFill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B80F51F-0CEA-7323-4AAB-2D4E9E9D489F}"/>
              </a:ext>
            </a:extLst>
          </p:cNvPr>
          <p:cNvSpPr txBox="1"/>
          <p:nvPr/>
        </p:nvSpPr>
        <p:spPr>
          <a:xfrm>
            <a:off x="2933149" y="446372"/>
            <a:ext cx="725593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solidFill>
                  <a:schemeClr val="bg1"/>
                </a:solidFill>
              </a:rPr>
              <a:t>מטריצת הבלבול- </a:t>
            </a:r>
            <a:r>
              <a:rPr lang="he-IL" sz="2800" dirty="0">
                <a:solidFill>
                  <a:schemeClr val="bg1"/>
                </a:solidFill>
              </a:rPr>
              <a:t>הערכת ביצועי המודל</a:t>
            </a:r>
            <a:endParaRPr lang="he-IL" sz="2800" b="1" u="sng" dirty="0">
              <a:solidFill>
                <a:schemeClr val="bg1"/>
              </a:solidFill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2081535-ABC6-9B6F-383B-F5A95ECD6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679" y="2290494"/>
            <a:ext cx="4954588" cy="3646307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C08B7C8-605A-7CB0-0828-D9CB53A7E320}"/>
              </a:ext>
            </a:extLst>
          </p:cNvPr>
          <p:cNvSpPr txBox="1"/>
          <p:nvPr/>
        </p:nvSpPr>
        <p:spPr>
          <a:xfrm>
            <a:off x="2975481" y="5713330"/>
            <a:ext cx="7171267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b="1" dirty="0"/>
              <a:t>הסבר:</a:t>
            </a:r>
            <a:endParaRPr lang="he-IL" dirty="0">
              <a:solidFill>
                <a:schemeClr val="bg1"/>
              </a:solidFill>
            </a:endParaRPr>
          </a:p>
          <a:p>
            <a:pPr algn="r"/>
            <a:r>
              <a:rPr lang="he-IL" dirty="0">
                <a:solidFill>
                  <a:schemeClr val="bg1"/>
                </a:solidFill>
              </a:rPr>
              <a:t>המטריצה מראה כמה פעמים המודל צדק (באלכסון הראשי) וכמה טעה.</a:t>
            </a:r>
          </a:p>
          <a:p>
            <a:pPr algn="r"/>
            <a:r>
              <a:rPr lang="he-IL" b="1" dirty="0">
                <a:solidFill>
                  <a:schemeClr val="bg1"/>
                </a:solidFill>
              </a:rPr>
              <a:t>הצלחה:</a:t>
            </a:r>
            <a:r>
              <a:rPr lang="he-IL" dirty="0">
                <a:solidFill>
                  <a:schemeClr val="bg1"/>
                </a:solidFill>
              </a:rPr>
              <a:t> הנתון החשוב הוא הדיוק הכללי של המודל</a:t>
            </a:r>
          </a:p>
        </p:txBody>
      </p:sp>
    </p:spTree>
    <p:extLst>
      <p:ext uri="{BB962C8B-B14F-4D97-AF65-F5344CB8AC3E}">
        <p14:creationId xmlns:p14="http://schemas.microsoft.com/office/powerpoint/2010/main" val="1254612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037AF-857E-9836-C764-57741F12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9D6C310-2015-60FB-9CDA-18E838F412D1}"/>
              </a:ext>
            </a:extLst>
          </p:cNvPr>
          <p:cNvSpPr txBox="1"/>
          <p:nvPr/>
        </p:nvSpPr>
        <p:spPr>
          <a:xfrm>
            <a:off x="2497114" y="1192353"/>
            <a:ext cx="8128000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000" b="1" dirty="0">
                <a:solidFill>
                  <a:schemeClr val="bg1"/>
                </a:solidFill>
              </a:rPr>
              <a:t>דיוק סופי:</a:t>
            </a:r>
            <a:r>
              <a:rPr lang="he-IL" sz="2000" dirty="0">
                <a:solidFill>
                  <a:schemeClr val="bg1"/>
                </a:solidFill>
              </a:rPr>
              <a:t> הדיוק של המודל הוא </a:t>
            </a:r>
            <a:r>
              <a:rPr lang="he-IL" sz="2000" b="1" dirty="0">
                <a:solidFill>
                  <a:schemeClr val="bg1"/>
                </a:solidFill>
              </a:rPr>
              <a:t>85%</a:t>
            </a:r>
            <a:endParaRPr lang="en-US" sz="2000" dirty="0">
              <a:solidFill>
                <a:schemeClr val="bg1"/>
              </a:solidFill>
            </a:endParaRPr>
          </a:p>
          <a:p>
            <a:pPr algn="r"/>
            <a:r>
              <a:rPr lang="he-IL" sz="2000" b="1" dirty="0">
                <a:solidFill>
                  <a:schemeClr val="bg1"/>
                </a:solidFill>
              </a:rPr>
              <a:t>הצלחת הפרויקט:</a:t>
            </a:r>
            <a:r>
              <a:rPr lang="he-IL" sz="2000" dirty="0">
                <a:solidFill>
                  <a:schemeClr val="bg1"/>
                </a:solidFill>
              </a:rPr>
              <a:t> המודל מצליח לחזות את הסיכון הבריאותי בהסתברות גבוהה </a:t>
            </a:r>
            <a:r>
              <a:rPr lang="en-US" sz="2000" dirty="0">
                <a:solidFill>
                  <a:schemeClr val="bg1"/>
                </a:solidFill>
              </a:rPr>
              <a:t>.BMI </a:t>
            </a:r>
            <a:r>
              <a:rPr lang="he-IL" sz="2000" dirty="0">
                <a:solidFill>
                  <a:schemeClr val="bg1"/>
                </a:solidFill>
              </a:rPr>
              <a:t>ו-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he-IL" sz="2000" dirty="0">
                <a:solidFill>
                  <a:schemeClr val="bg1"/>
                </a:solidFill>
              </a:rPr>
              <a:t>על בסיס הרגלי אורח חיים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he-IL" sz="2800" dirty="0">
              <a:solidFill>
                <a:schemeClr val="bg1"/>
              </a:solidFill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05792FE2-5966-CC5C-7EA4-9DE42D2F6D49}"/>
              </a:ext>
            </a:extLst>
          </p:cNvPr>
          <p:cNvSpPr txBox="1"/>
          <p:nvPr/>
        </p:nvSpPr>
        <p:spPr>
          <a:xfrm>
            <a:off x="2933149" y="446372"/>
            <a:ext cx="725593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solidFill>
                  <a:schemeClr val="bg1"/>
                </a:solidFill>
              </a:rPr>
              <a:t>מסקנות וצעדים עתידיים</a:t>
            </a:r>
            <a:endParaRPr lang="he-IL" sz="28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272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אדום כתום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TM04033919[[fn=מעגל]]</Template>
  <TotalTime>126</TotalTime>
  <Words>909</Words>
  <Application>Microsoft Office PowerPoint</Application>
  <PresentationFormat>מסך רחב</PresentationFormat>
  <Paragraphs>119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6" baseType="lpstr">
      <vt:lpstr>Arial</vt:lpstr>
      <vt:lpstr>Calibri</vt:lpstr>
      <vt:lpstr>Tw Cen MT</vt:lpstr>
      <vt:lpstr>מעגל</vt:lpstr>
      <vt:lpstr>חיזוי סיכון בריאותי על בסיס אורח חיים (Lifestyle and Health Risk Prediction)</vt:lpstr>
      <vt:lpstr>מטרת המחקר: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הדסה נפחא</dc:creator>
  <cp:lastModifiedBy>הדסה נפחא</cp:lastModifiedBy>
  <cp:revision>1</cp:revision>
  <dcterms:created xsi:type="dcterms:W3CDTF">2025-11-20T19:06:46Z</dcterms:created>
  <dcterms:modified xsi:type="dcterms:W3CDTF">2025-11-20T21:13:16Z</dcterms:modified>
</cp:coreProperties>
</file>